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E67AE-0430-BD92-7BB4-C19FFB6BB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2100A3-DFE2-AD83-2169-CB1D4A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597E3A-3361-1F69-A203-8D259807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A3C6B7-E25B-B101-7EC2-90406E2F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49841B-8BF3-6EFC-4C31-A3FB06B5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1111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10A3C-438F-73BE-3B0E-56E2A7EE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CFA3C0-286D-2E79-1173-681498A69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790610-0923-69CC-75E2-2220CF1E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BBCF7D-2BA6-6760-4101-3729A343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02C042-3A7D-6B45-AF86-0C553642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9094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A0707-A4F7-FBC6-07A3-E9DB91D05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5BC26B-164D-C376-32CC-A4D193027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77455-72EA-C37E-BEDA-C6F03196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F58145-FB3B-EBD1-3EEC-B4D35A51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C6098B-D2DB-4DE0-8375-0935CD11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6880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839F3-083C-D5B6-BDAF-AB881A5A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A05480-86C9-D3DC-0AC8-9D54E655F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53909F-6279-1787-B277-74A0191EC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13E6F1-902F-CE18-DD8E-83648F53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4A148B-1667-9890-754A-B9D79894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D7E359-1444-9628-2D29-5D4F1FBE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8851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C0FFF-13D0-5B98-C2AB-B1B34F98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F1F3E6-499C-274D-F12B-D2CBEA57C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5609BD-D908-CF30-3D8C-4E5BB508D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0351E3-3E45-24EB-7F3C-6953FCC1D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B0A70F2-5563-A9E6-10AA-BA52A2000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30EE1E-E638-544C-E6C2-D30EFCCC3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9F78EC-589F-2B7E-1181-3793E9FD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5D8A40E-4E92-1DCC-8A06-54BDB8E3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7096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64A02-99FF-0AC3-2B80-9C91344B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FBDE43-8AB9-24E7-BA2C-745FB3C5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AF6532-8205-F92F-6B03-B1194F92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8ED48F-8850-D14D-F7CF-BFA31FE6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0724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D07B7A-4437-1C1E-CA7F-38F7CDB7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5425AB-1D51-18E3-85F8-29101A3D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8A99A3-0324-F9B8-58AC-C5F3753D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69056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E4D7EF-AA7D-85F9-E400-842D887B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7F02D3-3EEA-8A64-F697-C9F949533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569191-E473-3FA8-6C23-283907F86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17FFF1-CAE3-AB78-F11A-12E334D0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33F751-5296-FBD0-1FB8-9BE31D8B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EDC3DF-E3F9-5258-4277-D152FB50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5750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9F4A1E-2E3B-4E82-3241-6B013F72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9B266C-DB8D-54A6-7B5C-2A7949795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481CD0-A175-36FB-C4CF-D741EBC92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6FC87D-ECD7-2706-4865-D02DE00D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F705EB-66FB-17CE-06B8-E74B7661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348385-548B-5F67-997E-D970F1CA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85426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3CF53-7E25-E2F8-7663-67455785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2BE3EB-5BA7-E6A6-3655-99E3F3C32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75E8C2-27E8-B796-5C1C-0CE4A0D8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66FDCB-3582-125F-FDD2-1B15BFA3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852FA8-106A-6F70-ADA5-CBEA0D86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08785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F51DE5F-E995-1F9F-6221-96BC38543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D78E84-2AF4-9012-E7FB-B1A206F12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C406BE-E6A5-FBC6-068B-179F1F74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4963DB-143B-9DC3-76AD-0C38E463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8D9E5D-2D95-4108-0CA1-11A0D33D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48174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51B3166-CDB2-8BBC-F7B5-1CFD096A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00644C-44E6-6ADD-709E-B1159234B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E1CA7-404A-897E-C883-A2F387CCD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FECED-9CEB-4077-80E6-B4A4E7B298CB}" type="datetimeFigureOut">
              <a:rPr lang="fr-MA" smtClean="0"/>
              <a:t>12/07/2026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1A6118-4B7C-BEA7-D61C-22A0CA5DA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3D2A26-5DA6-346A-5289-4D783BAAC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4C4BB-E635-4457-B622-3E27E763E42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10092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B2C68-E003-3CC6-C240-CBC399FDD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IA-Computer Vision</a:t>
            </a:r>
            <a:endParaRPr lang="fr-M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2B0DFB-6547-9255-0E9C-A89859185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261345"/>
            <a:ext cx="2507226" cy="948583"/>
          </a:xfrm>
        </p:spPr>
        <p:txBody>
          <a:bodyPr/>
          <a:lstStyle/>
          <a:p>
            <a:r>
              <a:rPr lang="de-DE" dirty="0"/>
              <a:t>Yasmine Fares</a:t>
            </a:r>
          </a:p>
          <a:p>
            <a:r>
              <a:rPr lang="de-DE" dirty="0"/>
              <a:t>IDIA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365407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93ABCA-883F-725F-8E2D-908DA938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6" y="99655"/>
            <a:ext cx="10173929" cy="598436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7030A0"/>
                </a:solidFill>
              </a:rPr>
              <a:t>TP 2 – Réseaux de neurones convolutifs (Partie2)</a:t>
            </a:r>
            <a:endParaRPr lang="fr-MA" sz="3200" b="1" dirty="0">
              <a:solidFill>
                <a:srgbClr val="7030A0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574B128-1CF8-6324-69FA-399D9C709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110" y="1793121"/>
            <a:ext cx="10703780" cy="506487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13ED19A-9432-7B24-A79C-433DD5336F15}"/>
              </a:ext>
            </a:extLst>
          </p:cNvPr>
          <p:cNvSpPr txBox="1"/>
          <p:nvPr/>
        </p:nvSpPr>
        <p:spPr>
          <a:xfrm>
            <a:off x="147484" y="1318338"/>
            <a:ext cx="11897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URL d’acc</a:t>
            </a:r>
            <a:r>
              <a:rPr lang="fr-FR" b="1" dirty="0">
                <a:solidFill>
                  <a:srgbClr val="7030A0"/>
                </a:solidFill>
              </a:rPr>
              <a:t>é</a:t>
            </a:r>
            <a:r>
              <a:rPr lang="fr-MA" b="1" dirty="0"/>
              <a:t>s au Drive </a:t>
            </a:r>
            <a:r>
              <a:rPr lang="fr-MA" dirty="0"/>
              <a:t>: https://colab.research.google.com/drive/1RJXcYXDu_yGMKBSiEtCLAmQvo4R4CvqT?usp=sharing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593952D-B0BE-AA78-6250-46BF700C671F}"/>
              </a:ext>
            </a:extLst>
          </p:cNvPr>
          <p:cNvSpPr txBox="1"/>
          <p:nvPr/>
        </p:nvSpPr>
        <p:spPr>
          <a:xfrm>
            <a:off x="1691148" y="8235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66"/>
                </a:solidFill>
              </a:rPr>
              <a:t>Exercice 1</a:t>
            </a:r>
            <a:endParaRPr lang="fr-MA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F996807-E6C8-7DB2-4DBE-A47C8D293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4" y="216309"/>
            <a:ext cx="11954412" cy="4876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B94CFF3-A421-9456-C071-39C2DDCF8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43" y="5093109"/>
            <a:ext cx="5201157" cy="114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3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71961EC-53E2-9474-2680-F10A3FA7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8697"/>
            <a:ext cx="12192000" cy="390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AAB6C07-78A7-C1FC-B891-F563DBFBA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50"/>
            <a:ext cx="12192000" cy="301237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36E9FB5-EC9D-5EA0-339E-47FA2728C123}"/>
              </a:ext>
            </a:extLst>
          </p:cNvPr>
          <p:cNvSpPr txBox="1"/>
          <p:nvPr/>
        </p:nvSpPr>
        <p:spPr>
          <a:xfrm>
            <a:off x="378541" y="3429000"/>
            <a:ext cx="112382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MA" b="1" dirty="0"/>
              <a:t>Train </a:t>
            </a:r>
            <a:r>
              <a:rPr lang="fr-MA" b="1" dirty="0" err="1"/>
              <a:t>accuracy</a:t>
            </a:r>
            <a:r>
              <a:rPr lang="fr-MA" dirty="0"/>
              <a:t> grimpe régulièrement 0.76 → 0.82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MA" b="1" dirty="0"/>
              <a:t>Val </a:t>
            </a:r>
            <a:r>
              <a:rPr lang="fr-MA" b="1" dirty="0" err="1"/>
              <a:t>accuracy</a:t>
            </a:r>
            <a:r>
              <a:rPr lang="fr-MA" dirty="0"/>
              <a:t> progresse aussi mais plus lentement 0.77 → 0.79 </a:t>
            </a:r>
          </a:p>
          <a:p>
            <a:pPr>
              <a:buFont typeface="Arial" panose="020B0604020202020204" pitchFamily="34" charset="0"/>
              <a:buChar char="•"/>
            </a:pPr>
            <a:endParaRPr lang="fr-MA" dirty="0"/>
          </a:p>
          <a:p>
            <a:endParaRPr lang="fr-MA" dirty="0"/>
          </a:p>
          <a:p>
            <a:pPr>
              <a:buNone/>
            </a:pPr>
            <a:r>
              <a:rPr lang="fr-MA" b="1" dirty="0" err="1"/>
              <a:t>Overfitting</a:t>
            </a:r>
            <a:endParaRPr lang="fr-MA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MA" dirty="0" err="1"/>
              <a:t>Epoch</a:t>
            </a:r>
            <a:r>
              <a:rPr lang="fr-MA" dirty="0"/>
              <a:t> 13 : train=0.7832, val=0.7705 → écart faible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MA" dirty="0" err="1"/>
              <a:t>Epoch</a:t>
            </a:r>
            <a:r>
              <a:rPr lang="fr-MA" dirty="0"/>
              <a:t> 20 : train=0.8187, val=0.7904 → écart d'environ </a:t>
            </a:r>
            <a:r>
              <a:rPr lang="fr-MA" b="1" dirty="0"/>
              <a:t>2.8 points</a:t>
            </a:r>
          </a:p>
          <a:p>
            <a:endParaRPr lang="fr-MA" b="1" dirty="0"/>
          </a:p>
          <a:p>
            <a:endParaRPr lang="fr-MA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MA" b="1" dirty="0" err="1"/>
              <a:t>loss</a:t>
            </a:r>
            <a:r>
              <a:rPr lang="fr-MA" dirty="0"/>
              <a:t> : </a:t>
            </a:r>
            <a:r>
              <a:rPr lang="fr-MA" dirty="0" err="1"/>
              <a:t>val_loss</a:t>
            </a:r>
            <a:r>
              <a:rPr lang="fr-MA" dirty="0"/>
              <a:t> remonte légèrement par moments (0.6212 → 0.6264 → 0.6356) </a:t>
            </a:r>
          </a:p>
        </p:txBody>
      </p:sp>
    </p:spTree>
    <p:extLst>
      <p:ext uri="{BB962C8B-B14F-4D97-AF65-F5344CB8AC3E}">
        <p14:creationId xmlns:p14="http://schemas.microsoft.com/office/powerpoint/2010/main" val="299772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2CE1AAA-D5A2-1D46-8B24-6F7C6AC6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6" y="115449"/>
            <a:ext cx="11402485" cy="2353049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DB4DF24-86EC-12B7-89DD-B0AF189EB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99153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133202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4159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Jeu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402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dirty="0"/>
                        <a:t>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81.87%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798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79.04%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11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b="0" dirty="0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b="0" dirty="0"/>
                        <a:t>79.11%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954123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78557282-31EB-BF5F-3836-B343A805AD27}"/>
              </a:ext>
            </a:extLst>
          </p:cNvPr>
          <p:cNvSpPr txBox="1"/>
          <p:nvPr/>
        </p:nvSpPr>
        <p:spPr>
          <a:xfrm>
            <a:off x="838200" y="27945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/>
              <a:t>les 3 scores obtenus sont :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859685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DBC6546-68AA-3D67-864C-DAF48F60FAC0}"/>
              </a:ext>
            </a:extLst>
          </p:cNvPr>
          <p:cNvSpPr txBox="1"/>
          <p:nvPr/>
        </p:nvSpPr>
        <p:spPr>
          <a:xfrm>
            <a:off x="412955" y="431986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MA" sz="18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Visualisation des courbes d'apprentissage</a:t>
            </a:r>
            <a:endParaRPr lang="fr-MA" sz="18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73E0A06-F603-1602-97CB-201D1A6A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3" y="997423"/>
            <a:ext cx="5662151" cy="42142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1FF2C1B-E939-5BE5-B2C7-5674CDD61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584" y="867872"/>
            <a:ext cx="5532599" cy="434377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930B079-C0D7-6A9B-E8DE-C3AF62BDA993}"/>
              </a:ext>
            </a:extLst>
          </p:cNvPr>
          <p:cNvSpPr txBox="1"/>
          <p:nvPr/>
        </p:nvSpPr>
        <p:spPr>
          <a:xfrm>
            <a:off x="412954" y="5537411"/>
            <a:ext cx="11474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- Le modèle apprend bien globalement ~ 79% test </a:t>
            </a:r>
            <a:r>
              <a:rPr lang="fr-MA" dirty="0" err="1"/>
              <a:t>accuracy</a:t>
            </a:r>
            <a:r>
              <a:rPr lang="fr-MA" dirty="0"/>
              <a:t> </a:t>
            </a:r>
          </a:p>
          <a:p>
            <a:r>
              <a:rPr lang="fr-MA" dirty="0"/>
              <a:t>- Un léger </a:t>
            </a:r>
            <a:r>
              <a:rPr lang="fr-MA" dirty="0" err="1"/>
              <a:t>overfitting</a:t>
            </a:r>
            <a:r>
              <a:rPr lang="fr-MA" dirty="0"/>
              <a:t> visible après l'</a:t>
            </a:r>
            <a:r>
              <a:rPr lang="fr-MA" dirty="0" err="1"/>
              <a:t>epoch</a:t>
            </a:r>
            <a:r>
              <a:rPr lang="fr-MA" dirty="0"/>
              <a:t> ~10</a:t>
            </a:r>
          </a:p>
        </p:txBody>
      </p:sp>
    </p:spTree>
    <p:extLst>
      <p:ext uri="{BB962C8B-B14F-4D97-AF65-F5344CB8AC3E}">
        <p14:creationId xmlns:p14="http://schemas.microsoft.com/office/powerpoint/2010/main" val="398825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885CE16-59BE-0077-3092-0F8B3EB8383F}"/>
              </a:ext>
            </a:extLst>
          </p:cNvPr>
          <p:cNvSpPr txBox="1"/>
          <p:nvPr/>
        </p:nvSpPr>
        <p:spPr>
          <a:xfrm>
            <a:off x="255638" y="1852417"/>
            <a:ext cx="118478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dirty="0"/>
              <a:t>Le modèle de type VGG a obtenu une précision (</a:t>
            </a:r>
            <a:r>
              <a:rPr lang="fr-MA" dirty="0" err="1"/>
              <a:t>accuracy</a:t>
            </a:r>
            <a:r>
              <a:rPr lang="fr-MA" dirty="0"/>
              <a:t>) de 79,11 % sur les données de test après 20 </a:t>
            </a:r>
            <a:r>
              <a:rPr lang="fr-MA" dirty="0" err="1"/>
              <a:t>epochs</a:t>
            </a:r>
            <a:r>
              <a:rPr lang="fr-MA" dirty="0"/>
              <a:t> (20 passages complets sur les données d'entraînement).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dirty="0"/>
              <a:t>En observant les courbes d'apprentissage, on remarque qu'à partir d'environ la 10ᵉ </a:t>
            </a:r>
            <a:r>
              <a:rPr lang="fr-MA" dirty="0" err="1"/>
              <a:t>epoch</a:t>
            </a:r>
            <a:r>
              <a:rPr lang="fr-MA" dirty="0"/>
              <a:t>, le modèle commence à apprendre un peu trop les données d'entraînement. Cela se voit parce que la </a:t>
            </a:r>
            <a:r>
              <a:rPr lang="fr-MA" dirty="0" err="1"/>
              <a:t>loss</a:t>
            </a:r>
            <a:r>
              <a:rPr lang="fr-MA" dirty="0"/>
              <a:t> d'entraînement continue de diminuer, tandis que la </a:t>
            </a:r>
            <a:r>
              <a:rPr lang="fr-MA" dirty="0" err="1"/>
              <a:t>loss</a:t>
            </a:r>
            <a:r>
              <a:rPr lang="fr-MA" dirty="0"/>
              <a:t> de validation ne s'améliore presque plus.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dirty="0"/>
              <a:t>Ce phénomène, appelé surapprentissage, reste toutefois limité grâce aux couches de Dropout, qui aident le modèle à mieux généraliser sur de nouvelles données.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1DAF11-2CB6-B128-4560-B24FBF0B9F65}"/>
              </a:ext>
            </a:extLst>
          </p:cNvPr>
          <p:cNvSpPr txBox="1"/>
          <p:nvPr/>
        </p:nvSpPr>
        <p:spPr>
          <a:xfrm>
            <a:off x="383456" y="839242"/>
            <a:ext cx="701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b="1" dirty="0" err="1">
                <a:solidFill>
                  <a:srgbClr val="7030A0"/>
                </a:solidFill>
              </a:rPr>
              <a:t>Conclusion</a:t>
            </a:r>
            <a:r>
              <a:rPr lang="de-DE" sz="2400" b="1" dirty="0">
                <a:solidFill>
                  <a:srgbClr val="7030A0"/>
                </a:solidFill>
              </a:rPr>
              <a:t> :</a:t>
            </a:r>
            <a:endParaRPr lang="fr-MA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3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82853D5-C4AA-24A1-360C-8DB20976775C}"/>
              </a:ext>
            </a:extLst>
          </p:cNvPr>
          <p:cNvSpPr txBox="1"/>
          <p:nvPr/>
        </p:nvSpPr>
        <p:spPr>
          <a:xfrm>
            <a:off x="1917291" y="1346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66"/>
                </a:solidFill>
              </a:rPr>
              <a:t>Exercice 2</a:t>
            </a:r>
            <a:endParaRPr lang="fr-MA" dirty="0">
              <a:solidFill>
                <a:srgbClr val="FF0066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A53185-70FB-5082-C450-5F39EA14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997"/>
            <a:ext cx="12192000" cy="15028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5A10209-ED7D-87AA-4E57-98C68C25BD48}"/>
              </a:ext>
            </a:extLst>
          </p:cNvPr>
          <p:cNvSpPr txBox="1"/>
          <p:nvPr/>
        </p:nvSpPr>
        <p:spPr>
          <a:xfrm>
            <a:off x="255639" y="800665"/>
            <a:ext cx="5506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Les imports :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B8968A-CA50-04F1-C05F-8B8DF7961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8880"/>
            <a:ext cx="12192000" cy="351912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73BD275-2DE2-E971-FA1A-8D352B101177}"/>
              </a:ext>
            </a:extLst>
          </p:cNvPr>
          <p:cNvSpPr txBox="1"/>
          <p:nvPr/>
        </p:nvSpPr>
        <p:spPr>
          <a:xfrm>
            <a:off x="167148" y="3042174"/>
            <a:ext cx="11857703" cy="46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MA" b="1" dirty="0"/>
              <a:t>Chargement du </a:t>
            </a:r>
            <a:r>
              <a:rPr lang="fr-MA" b="1" dirty="0" err="1"/>
              <a:t>dataset</a:t>
            </a:r>
            <a:r>
              <a:rPr lang="fr-MA" b="1" dirty="0"/>
              <a:t> Cats vs </a:t>
            </a:r>
            <a:r>
              <a:rPr lang="fr-MA" b="1" dirty="0" err="1"/>
              <a:t>Dogs</a:t>
            </a:r>
            <a:r>
              <a:rPr lang="fr-MA" b="1" dirty="0"/>
              <a:t> : </a:t>
            </a:r>
            <a:r>
              <a:rPr lang="fr-MA" dirty="0"/>
              <a:t>Nombre de classes: 2 + Noms des classes: ['cat', 'dog’] + Nombre total d'images: 23262</a:t>
            </a:r>
          </a:p>
          <a:p>
            <a:pPr>
              <a:lnSpc>
                <a:spcPts val="1425"/>
              </a:lnSpc>
              <a:buNone/>
            </a:pPr>
            <a:endParaRPr lang="fr-MA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B049F4E-23D9-9642-3617-51E6AC7348E8}"/>
              </a:ext>
            </a:extLst>
          </p:cNvPr>
          <p:cNvSpPr txBox="1"/>
          <p:nvPr/>
        </p:nvSpPr>
        <p:spPr>
          <a:xfrm>
            <a:off x="255639" y="414182"/>
            <a:ext cx="12477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URL d’acc</a:t>
            </a:r>
            <a:r>
              <a:rPr lang="fr-FR" b="1" dirty="0">
                <a:solidFill>
                  <a:srgbClr val="7030A0"/>
                </a:solidFill>
              </a:rPr>
              <a:t>é</a:t>
            </a:r>
            <a:r>
              <a:rPr lang="fr-MA" b="1" dirty="0"/>
              <a:t>s au Drive : </a:t>
            </a:r>
            <a:r>
              <a:rPr lang="fr-MA" dirty="0"/>
              <a:t>https://colab.research.google.com/drive/1JoJxFBABqTHcttsDdNzGy5gFEA20Yf8f?usp=sharing</a:t>
            </a:r>
          </a:p>
        </p:txBody>
      </p:sp>
    </p:spTree>
    <p:extLst>
      <p:ext uri="{BB962C8B-B14F-4D97-AF65-F5344CB8AC3E}">
        <p14:creationId xmlns:p14="http://schemas.microsoft.com/office/powerpoint/2010/main" val="209459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CA16728-6ADE-3481-ADC5-A26F6287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97558"/>
            <a:ext cx="7737987" cy="398206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51F99BE-0110-389F-C6BE-78CA9C44B6CD}"/>
              </a:ext>
            </a:extLst>
          </p:cNvPr>
          <p:cNvSpPr txBox="1"/>
          <p:nvPr/>
        </p:nvSpPr>
        <p:spPr>
          <a:xfrm>
            <a:off x="147484" y="617070"/>
            <a:ext cx="6096000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MA" b="1" dirty="0"/>
              <a:t>Prétraitement des images (re size + normalisation)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AE5AEED-0BE4-C593-7677-D5554E3C3478}"/>
              </a:ext>
            </a:extLst>
          </p:cNvPr>
          <p:cNvSpPr txBox="1"/>
          <p:nvPr/>
        </p:nvSpPr>
        <p:spPr>
          <a:xfrm>
            <a:off x="235974" y="5472211"/>
            <a:ext cx="110121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- Chaque batch contient 32 images </a:t>
            </a:r>
          </a:p>
          <a:p>
            <a:r>
              <a:rPr lang="fr-MA" dirty="0"/>
              <a:t>- Chaque image fait 224×224 pixels avec 3 canaux de couleur (RVB)</a:t>
            </a:r>
          </a:p>
          <a:p>
            <a:r>
              <a:rPr lang="fr-MA" dirty="0"/>
              <a:t>- Chaque batch a 32 labels correspondants (0=chat ou 1=chien)</a:t>
            </a:r>
          </a:p>
        </p:txBody>
      </p:sp>
    </p:spTree>
    <p:extLst>
      <p:ext uri="{BB962C8B-B14F-4D97-AF65-F5344CB8AC3E}">
        <p14:creationId xmlns:p14="http://schemas.microsoft.com/office/powerpoint/2010/main" val="4111708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1A8D1C7-6844-7F3F-996F-18159CC9BEC1}"/>
              </a:ext>
            </a:extLst>
          </p:cNvPr>
          <p:cNvSpPr txBox="1"/>
          <p:nvPr/>
        </p:nvSpPr>
        <p:spPr>
          <a:xfrm>
            <a:off x="242983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Construction du modèle </a:t>
            </a:r>
            <a:r>
              <a:rPr lang="fr-MA" dirty="0"/>
              <a:t>MobileNetV2</a:t>
            </a:r>
            <a:endParaRPr lang="fr-MA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2D9213-8FB0-F223-4701-B197BB8DB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62"/>
            <a:ext cx="12192000" cy="38220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9C70BB0-E5C8-C067-3666-3B1CC9714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0159"/>
            <a:ext cx="5298912" cy="258784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32310C6-06F2-BD48-5900-40A101C16920}"/>
              </a:ext>
            </a:extLst>
          </p:cNvPr>
          <p:cNvSpPr txBox="1"/>
          <p:nvPr/>
        </p:nvSpPr>
        <p:spPr>
          <a:xfrm>
            <a:off x="5427407" y="4871884"/>
            <a:ext cx="6479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2,4 millions de paramètres au total, mais seulement 164 097 sont réellement entraînables, le reste est gelé pour un entraînement plus rapide</a:t>
            </a:r>
          </a:p>
        </p:txBody>
      </p:sp>
    </p:spTree>
    <p:extLst>
      <p:ext uri="{BB962C8B-B14F-4D97-AF65-F5344CB8AC3E}">
        <p14:creationId xmlns:p14="http://schemas.microsoft.com/office/powerpoint/2010/main" val="291483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E6C131-1FD5-7512-869E-6017A72D3997}"/>
              </a:ext>
            </a:extLst>
          </p:cNvPr>
          <p:cNvSpPr txBox="1"/>
          <p:nvPr/>
        </p:nvSpPr>
        <p:spPr>
          <a:xfrm>
            <a:off x="127819" y="90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Compilation du modèle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4FB46A-157A-2998-9CF4-15F0E9475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969"/>
            <a:ext cx="7742591" cy="123454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11EE41B-7071-DDD2-3F4A-9997906F8FA9}"/>
              </a:ext>
            </a:extLst>
          </p:cNvPr>
          <p:cNvSpPr txBox="1"/>
          <p:nvPr/>
        </p:nvSpPr>
        <p:spPr>
          <a:xfrm>
            <a:off x="196645" y="1801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Entraînement du modèle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803BA78-35C2-D6D7-8704-8C0F99F0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4156"/>
            <a:ext cx="11819644" cy="466384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59E360D-BB20-9CA2-67C0-F47EBBBC4F9E}"/>
              </a:ext>
            </a:extLst>
          </p:cNvPr>
          <p:cNvSpPr txBox="1"/>
          <p:nvPr/>
        </p:nvSpPr>
        <p:spPr>
          <a:xfrm>
            <a:off x="9409471" y="5960495"/>
            <a:ext cx="2890684" cy="6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Train </a:t>
            </a:r>
            <a:r>
              <a:rPr lang="fr-MA" b="1" dirty="0" err="1"/>
              <a:t>accuracy</a:t>
            </a:r>
            <a:r>
              <a:rPr lang="fr-MA" b="1" dirty="0"/>
              <a:t> : 99.74%</a:t>
            </a:r>
            <a:r>
              <a:rPr lang="fr-MA" dirty="0"/>
              <a:t> </a:t>
            </a:r>
          </a:p>
          <a:p>
            <a:r>
              <a:rPr lang="fr-MA" b="1" dirty="0"/>
              <a:t>Validation </a:t>
            </a:r>
            <a:r>
              <a:rPr lang="fr-MA" b="1" dirty="0" err="1"/>
              <a:t>accuracy</a:t>
            </a:r>
            <a:r>
              <a:rPr lang="fr-MA" b="1" dirty="0"/>
              <a:t> : 98.80%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916362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459BF96-2AB2-8ED3-B070-977B7F7E725A}"/>
              </a:ext>
            </a:extLst>
          </p:cNvPr>
          <p:cNvSpPr txBox="1"/>
          <p:nvPr/>
        </p:nvSpPr>
        <p:spPr>
          <a:xfrm>
            <a:off x="150924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évaluation sur le jeu de test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01B65D-D67B-8E2B-A2FF-465719F0D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4" y="416672"/>
            <a:ext cx="8609618" cy="116203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050014F-B4FA-588E-2514-38FF983AEDD9}"/>
              </a:ext>
            </a:extLst>
          </p:cNvPr>
          <p:cNvSpPr txBox="1"/>
          <p:nvPr/>
        </p:nvSpPr>
        <p:spPr>
          <a:xfrm>
            <a:off x="9252155" y="581017"/>
            <a:ext cx="2408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Test </a:t>
            </a:r>
            <a:r>
              <a:rPr lang="fr-MA" dirty="0" err="1"/>
              <a:t>accuracy</a:t>
            </a:r>
            <a:r>
              <a:rPr lang="fr-MA" dirty="0"/>
              <a:t> = 99.40%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587C1BA-2C3B-5981-92D5-856BAF0BBBE3}"/>
              </a:ext>
            </a:extLst>
          </p:cNvPr>
          <p:cNvSpPr txBox="1"/>
          <p:nvPr/>
        </p:nvSpPr>
        <p:spPr>
          <a:xfrm>
            <a:off x="150924" y="20186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Visualisation des courbes d'apprentissage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27903E5-1CF4-F7A2-D47E-9983CF8B5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2147"/>
            <a:ext cx="7482348" cy="43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11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C5CC13-886D-9B5A-997C-C0B2E184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0" y="280654"/>
            <a:ext cx="5570703" cy="41532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90A764A-029C-F786-E4D7-651F3E466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883"/>
            <a:ext cx="5753599" cy="424470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ACE4DD9-71DE-3B6E-D564-2BA5DBE3A42D}"/>
              </a:ext>
            </a:extLst>
          </p:cNvPr>
          <p:cNvSpPr txBox="1"/>
          <p:nvPr/>
        </p:nvSpPr>
        <p:spPr>
          <a:xfrm>
            <a:off x="934065" y="4760112"/>
            <a:ext cx="4630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/>
              <a:t>Accuracy</a:t>
            </a:r>
            <a:r>
              <a:rPr lang="fr-MA"/>
              <a:t> près de 100% : modèle très stable.</a:t>
            </a:r>
            <a:endParaRPr lang="fr-M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96B092-1813-2E2E-66A2-A45554627A5B}"/>
              </a:ext>
            </a:extLst>
          </p:cNvPr>
          <p:cNvSpPr txBox="1"/>
          <p:nvPr/>
        </p:nvSpPr>
        <p:spPr>
          <a:xfrm>
            <a:off x="6764594" y="4669889"/>
            <a:ext cx="5570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Loss</a:t>
            </a:r>
            <a:r>
              <a:rPr lang="fr-MA" dirty="0"/>
              <a:t> : léger </a:t>
            </a:r>
            <a:r>
              <a:rPr lang="fr-MA" dirty="0" err="1"/>
              <a:t>overfitting</a:t>
            </a:r>
            <a:r>
              <a:rPr lang="fr-MA" dirty="0"/>
              <a:t>, visible uniquement sur la </a:t>
            </a:r>
            <a:r>
              <a:rPr lang="fr-MA" dirty="0" err="1"/>
              <a:t>loss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556301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9819CE-B828-A180-A67A-1CC33618F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7" y="649723"/>
            <a:ext cx="7727832" cy="499471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F4DB24A-4D12-B9ED-3CDA-9DE46EE775DE}"/>
              </a:ext>
            </a:extLst>
          </p:cNvPr>
          <p:cNvSpPr txBox="1"/>
          <p:nvPr/>
        </p:nvSpPr>
        <p:spPr>
          <a:xfrm>
            <a:off x="393290" y="1791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Métriques détaillées (précision, rappel, F1, ROC/AUC)</a:t>
            </a:r>
          </a:p>
        </p:txBody>
      </p:sp>
    </p:spTree>
    <p:extLst>
      <p:ext uri="{BB962C8B-B14F-4D97-AF65-F5344CB8AC3E}">
        <p14:creationId xmlns:p14="http://schemas.microsoft.com/office/powerpoint/2010/main" val="1042701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27B2B1A-1DB7-A041-3381-81FBEAB9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608"/>
            <a:ext cx="6035563" cy="430567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DF5F7F-C985-6631-298D-D63A3A01E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231" y="1287594"/>
            <a:ext cx="5890770" cy="42828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01C02A-84FD-8BD6-4F3A-921F06C54BCD}"/>
              </a:ext>
            </a:extLst>
          </p:cNvPr>
          <p:cNvSpPr txBox="1"/>
          <p:nvPr/>
        </p:nvSpPr>
        <p:spPr>
          <a:xfrm>
            <a:off x="-91745" y="4559281"/>
            <a:ext cx="7178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1156 chats correctement identifiés, seulement 4 chats confondus pour des chiens 1156 chiens correctement identifiés, mais 10 chiens confondus pour des chats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8C7419C-8997-00AB-6903-25B5A0511996}"/>
              </a:ext>
            </a:extLst>
          </p:cNvPr>
          <p:cNvSpPr txBox="1"/>
          <p:nvPr/>
        </p:nvSpPr>
        <p:spPr>
          <a:xfrm>
            <a:off x="7607709" y="5714689"/>
            <a:ext cx="6799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AUC = 0.9993</a:t>
            </a:r>
            <a:r>
              <a:rPr lang="fr-MA" dirty="0"/>
              <a:t> : proche de 1</a:t>
            </a:r>
          </a:p>
        </p:txBody>
      </p:sp>
    </p:spTree>
    <p:extLst>
      <p:ext uri="{BB962C8B-B14F-4D97-AF65-F5344CB8AC3E}">
        <p14:creationId xmlns:p14="http://schemas.microsoft.com/office/powerpoint/2010/main" val="1311535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C2BAC76-F4D8-110A-9BC7-FD7E8717941C}"/>
              </a:ext>
            </a:extLst>
          </p:cNvPr>
          <p:cNvSpPr txBox="1"/>
          <p:nvPr/>
        </p:nvSpPr>
        <p:spPr>
          <a:xfrm>
            <a:off x="157315" y="9460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Prétraitement spécifique à VGG16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63592F-40F5-AF12-17C4-5F2B5CD5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840"/>
            <a:ext cx="9678351" cy="25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89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77DA12B-7828-0BD5-BAF2-D945CC5758DA}"/>
              </a:ext>
            </a:extLst>
          </p:cNvPr>
          <p:cNvSpPr txBox="1"/>
          <p:nvPr/>
        </p:nvSpPr>
        <p:spPr>
          <a:xfrm>
            <a:off x="170137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Construction du modèle VGG16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FE3F66F-36B8-340E-D913-9CE9C23F9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10455546" cy="413039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AAD918F-D1F8-64B4-17F8-9A73DEAC3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440" y="4353978"/>
            <a:ext cx="5191431" cy="24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75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6BAA262-EC15-B896-3381-BC51AE4AD0F5}"/>
              </a:ext>
            </a:extLst>
          </p:cNvPr>
          <p:cNvSpPr txBox="1"/>
          <p:nvPr/>
        </p:nvSpPr>
        <p:spPr>
          <a:xfrm>
            <a:off x="206477" y="906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Compilation VGG16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D961B6F-4D78-41A0-9527-AAC21CF9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4" y="459969"/>
            <a:ext cx="6608022" cy="116235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1E00FFF-2836-BEC6-5364-14E06C838461}"/>
              </a:ext>
            </a:extLst>
          </p:cNvPr>
          <p:cNvSpPr txBox="1"/>
          <p:nvPr/>
        </p:nvSpPr>
        <p:spPr>
          <a:xfrm>
            <a:off x="206477" y="1948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Entraînement VGG16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F153560-CEC8-27B1-14F9-019D8DF3B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4" y="2318266"/>
            <a:ext cx="9800169" cy="46105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87269EF-9BEA-D5CC-A1A3-118775DCA68F}"/>
              </a:ext>
            </a:extLst>
          </p:cNvPr>
          <p:cNvSpPr txBox="1"/>
          <p:nvPr/>
        </p:nvSpPr>
        <p:spPr>
          <a:xfrm>
            <a:off x="8986684" y="2782669"/>
            <a:ext cx="2930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Train </a:t>
            </a:r>
            <a:r>
              <a:rPr lang="fr-MA" b="1" dirty="0" err="1"/>
              <a:t>accuracy</a:t>
            </a:r>
            <a:r>
              <a:rPr lang="fr-MA" b="1" dirty="0"/>
              <a:t> : 99.19%</a:t>
            </a:r>
            <a:r>
              <a:rPr lang="fr-MA" dirty="0"/>
              <a:t> </a:t>
            </a:r>
          </a:p>
          <a:p>
            <a:r>
              <a:rPr lang="fr-MA" b="1" dirty="0"/>
              <a:t>Validation </a:t>
            </a:r>
            <a:r>
              <a:rPr lang="fr-MA" b="1" dirty="0" err="1"/>
              <a:t>accuracy</a:t>
            </a:r>
            <a:r>
              <a:rPr lang="fr-MA" b="1" dirty="0"/>
              <a:t> : 98.19%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508383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3379BA5-ED1F-DC8D-9397-2912DFE8C2E0}"/>
              </a:ext>
            </a:extLst>
          </p:cNvPr>
          <p:cNvSpPr txBox="1"/>
          <p:nvPr/>
        </p:nvSpPr>
        <p:spPr>
          <a:xfrm>
            <a:off x="511277" y="3462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4- Évaluation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5140B6D-A56A-8020-929B-4DBF03124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3" y="1048075"/>
            <a:ext cx="9895443" cy="150831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7ABC7E7-B356-0291-F974-4283258ABB39}"/>
              </a:ext>
            </a:extLst>
          </p:cNvPr>
          <p:cNvSpPr txBox="1"/>
          <p:nvPr/>
        </p:nvSpPr>
        <p:spPr>
          <a:xfrm>
            <a:off x="8514736" y="2784675"/>
            <a:ext cx="3342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/>
              <a:t>Test </a:t>
            </a:r>
            <a:r>
              <a:rPr lang="fr-MA" b="1" dirty="0" err="1"/>
              <a:t>accuracy</a:t>
            </a:r>
            <a:r>
              <a:rPr lang="fr-MA" b="1" dirty="0"/>
              <a:t> VGG16 = 98.97%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72064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26DB337-B450-C0A7-7CAE-D161A751B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534373"/>
              </p:ext>
            </p:extLst>
          </p:nvPr>
        </p:nvGraphicFramePr>
        <p:xfrm>
          <a:off x="648929" y="1634120"/>
          <a:ext cx="10515600" cy="3185217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204040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47399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2578674"/>
                    </a:ext>
                  </a:extLst>
                </a:gridCol>
              </a:tblGrid>
              <a:tr h="990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Métrique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b="1" dirty="0">
                          <a:solidFill>
                            <a:srgbClr val="00B0F0"/>
                          </a:solidFill>
                        </a:rPr>
                        <a:t>MobileNetV2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b="1" dirty="0">
                          <a:solidFill>
                            <a:srgbClr val="00B050"/>
                          </a:solidFill>
                        </a:rPr>
                        <a:t>VGG16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96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b="0" dirty="0"/>
                        <a:t>Test </a:t>
                      </a:r>
                      <a:r>
                        <a:rPr lang="fr-MA" b="0" dirty="0" err="1"/>
                        <a:t>accuracy</a:t>
                      </a:r>
                      <a:endParaRPr lang="fr-MA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b="0" dirty="0"/>
                        <a:t>99.40%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98.97%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6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Train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99.74%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99.19%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78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Validation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98.80%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98.19%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78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Total paramètres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2,4 millions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dirty="0"/>
                        <a:t>14,8 millions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46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Temps d'entraînement (10 epochs)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~6 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dirty="0"/>
                        <a:t>~23 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29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/>
                        <a:t>Taille du modèle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dirty="0"/>
                        <a:t>9,24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dirty="0"/>
                        <a:t>56,38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825588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C261353D-8267-9699-922E-385FC0BC42A9}"/>
              </a:ext>
            </a:extLst>
          </p:cNvPr>
          <p:cNvSpPr txBox="1"/>
          <p:nvPr/>
        </p:nvSpPr>
        <p:spPr>
          <a:xfrm>
            <a:off x="648929" y="8477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/>
              <a:t>Comparaison finale complète : </a:t>
            </a:r>
            <a:r>
              <a:rPr lang="fr-MA" b="1" dirty="0">
                <a:solidFill>
                  <a:srgbClr val="00B0F0"/>
                </a:solidFill>
              </a:rPr>
              <a:t>MobileNetV2</a:t>
            </a:r>
            <a:r>
              <a:rPr lang="fr-MA" b="1" dirty="0"/>
              <a:t> vs </a:t>
            </a:r>
            <a:r>
              <a:rPr lang="fr-MA" b="1" dirty="0">
                <a:solidFill>
                  <a:srgbClr val="00B050"/>
                </a:solidFill>
              </a:rPr>
              <a:t>VGG16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2CDF746-0731-58FC-A7C8-57366C783B61}"/>
              </a:ext>
            </a:extLst>
          </p:cNvPr>
          <p:cNvSpPr txBox="1"/>
          <p:nvPr/>
        </p:nvSpPr>
        <p:spPr>
          <a:xfrm>
            <a:off x="648929" y="5548344"/>
            <a:ext cx="7914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/>
              <a:t>MobileNetV2 est</a:t>
            </a:r>
            <a:endParaRPr lang="fr-MA" dirty="0"/>
          </a:p>
          <a:p>
            <a:pPr>
              <a:buFont typeface="Arial" panose="020B0604020202020204" pitchFamily="34" charset="0"/>
              <a:buChar char="•"/>
            </a:pPr>
            <a:r>
              <a:rPr lang="fr-MA" dirty="0"/>
              <a:t>Plus précis en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MA" dirty="0"/>
              <a:t>Beaucoup plus rapide à entraîner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MA" dirty="0"/>
              <a:t>Beaucoup plus </a:t>
            </a:r>
            <a:r>
              <a:rPr lang="fr-MA" dirty="0" err="1"/>
              <a:t>leger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143979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6C5CC03-1D68-548F-E99A-0344AE8B0F3E}"/>
              </a:ext>
            </a:extLst>
          </p:cNvPr>
          <p:cNvSpPr txBox="1"/>
          <p:nvPr/>
        </p:nvSpPr>
        <p:spPr>
          <a:xfrm>
            <a:off x="717755" y="3364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5. Analyse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3642E8-5636-3267-6463-156031E505A7}"/>
              </a:ext>
            </a:extLst>
          </p:cNvPr>
          <p:cNvSpPr txBox="1"/>
          <p:nvPr/>
        </p:nvSpPr>
        <p:spPr>
          <a:xfrm>
            <a:off x="78658" y="8378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Visualisation des </a:t>
            </a:r>
            <a:r>
              <a:rPr lang="fr-MA" b="1" dirty="0" err="1"/>
              <a:t>feature</a:t>
            </a:r>
            <a:r>
              <a:rPr lang="fr-MA" b="1" dirty="0"/>
              <a:t> </a:t>
            </a:r>
            <a:r>
              <a:rPr lang="fr-MA" b="1" dirty="0" err="1"/>
              <a:t>maps</a:t>
            </a:r>
            <a:r>
              <a:rPr lang="fr-MA" b="1" dirty="0"/>
              <a:t> (MobileNetV2)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981AF4-24E2-1824-573D-15DBE012D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64" y="1546783"/>
            <a:ext cx="9936740" cy="489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62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F7F8DFA-10D6-D298-6178-83985CA20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53" y="75243"/>
            <a:ext cx="11469094" cy="507536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822C121-B31F-A4DB-A382-E09DEAEB0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83" y="5173834"/>
            <a:ext cx="11225233" cy="16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26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621533C-C6A6-B9A6-A1EE-A4318C6B1F80}"/>
              </a:ext>
            </a:extLst>
          </p:cNvPr>
          <p:cNvSpPr txBox="1"/>
          <p:nvPr/>
        </p:nvSpPr>
        <p:spPr>
          <a:xfrm>
            <a:off x="235974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Identifier les erreurs de classification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AF117D-C0F0-9ADD-774C-E6005E335749}"/>
              </a:ext>
            </a:extLst>
          </p:cNvPr>
          <p:cNvSpPr txBox="1"/>
          <p:nvPr/>
        </p:nvSpPr>
        <p:spPr>
          <a:xfrm>
            <a:off x="235974" y="9853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Comparaison des modèles : précision, vitesse, taille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6E5AD21-3F6D-E79D-2A88-0FD8E35CE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3334"/>
            <a:ext cx="12192000" cy="367133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F16210D-E5EB-5D72-FFDB-7376C4C9DE2A}"/>
              </a:ext>
            </a:extLst>
          </p:cNvPr>
          <p:cNvSpPr txBox="1"/>
          <p:nvPr/>
        </p:nvSpPr>
        <p:spPr>
          <a:xfrm>
            <a:off x="88490" y="5608794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/>
              <a:t>Précision</a:t>
            </a:r>
            <a:r>
              <a:rPr lang="fr-MA" dirty="0"/>
              <a:t> : MobileNetV2 légèrement supérieur </a:t>
            </a:r>
          </a:p>
          <a:p>
            <a:pPr>
              <a:buNone/>
            </a:pPr>
            <a:r>
              <a:rPr lang="fr-MA" b="1" dirty="0"/>
              <a:t>Vitesse</a:t>
            </a:r>
            <a:r>
              <a:rPr lang="fr-MA" dirty="0"/>
              <a:t> : MobileNetV2 nettement plus rapide </a:t>
            </a:r>
          </a:p>
          <a:p>
            <a:pPr>
              <a:buNone/>
            </a:pPr>
            <a:r>
              <a:rPr lang="fr-MA" b="1" dirty="0"/>
              <a:t>Taille</a:t>
            </a:r>
            <a:r>
              <a:rPr lang="fr-MA" dirty="0"/>
              <a:t> : MobileNetV2 beaucoup plus</a:t>
            </a:r>
          </a:p>
        </p:txBody>
      </p:sp>
    </p:spTree>
    <p:extLst>
      <p:ext uri="{BB962C8B-B14F-4D97-AF65-F5344CB8AC3E}">
        <p14:creationId xmlns:p14="http://schemas.microsoft.com/office/powerpoint/2010/main" val="2089146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50D2AA-035C-7DB1-36E6-EF4C10E0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b="1" dirty="0">
                <a:solidFill>
                  <a:srgbClr val="7030A0"/>
                </a:solidFill>
              </a:rPr>
              <a:t>Mini </a:t>
            </a:r>
            <a:r>
              <a:rPr lang="de-DE" sz="3200" b="1" dirty="0" err="1">
                <a:solidFill>
                  <a:srgbClr val="7030A0"/>
                </a:solidFill>
              </a:rPr>
              <a:t>projet</a:t>
            </a:r>
            <a:r>
              <a:rPr lang="de-DE" sz="3200" b="1" dirty="0">
                <a:solidFill>
                  <a:srgbClr val="7030A0"/>
                </a:solidFill>
              </a:rPr>
              <a:t> : </a:t>
            </a:r>
            <a:r>
              <a:rPr lang="fr-MA" sz="3200" b="1" dirty="0">
                <a:solidFill>
                  <a:srgbClr val="7030A0"/>
                </a:solidFill>
              </a:rPr>
              <a:t>détection d'objets avec </a:t>
            </a:r>
            <a:r>
              <a:rPr lang="fr-MA" sz="3200" b="1" dirty="0" err="1">
                <a:solidFill>
                  <a:srgbClr val="7030A0"/>
                </a:solidFill>
              </a:rPr>
              <a:t>Yolo</a:t>
            </a:r>
            <a:endParaRPr lang="fr-MA" sz="3200" b="1" dirty="0">
              <a:solidFill>
                <a:srgbClr val="7030A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B8BC92-D882-0331-C36D-EA0CD2A31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fr-MA" sz="2400" dirty="0"/>
              <a:t>Créer un environnement virtuel :</a:t>
            </a:r>
          </a:p>
          <a:p>
            <a:pPr marL="0" indent="0">
              <a:buNone/>
            </a:pPr>
            <a:endParaRPr lang="fr-MA" sz="2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4692E82-20F2-AB15-7291-3C5C0AE8C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8049"/>
            <a:ext cx="6717564" cy="18008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BB14E9E-CBE4-D705-11D4-EA90BB8AA9AB}"/>
              </a:ext>
            </a:extLst>
          </p:cNvPr>
          <p:cNvSpPr txBox="1"/>
          <p:nvPr/>
        </p:nvSpPr>
        <p:spPr>
          <a:xfrm>
            <a:off x="838200" y="44804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dirty="0"/>
              <a:t>- Installer la librairie </a:t>
            </a:r>
            <a:r>
              <a:rPr lang="fr-MA" sz="2400" dirty="0" err="1"/>
              <a:t>ultralytics</a:t>
            </a:r>
            <a:endParaRPr lang="fr-MA" sz="24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61ECEFF-F5A6-5B28-F702-178DE923C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208975"/>
            <a:ext cx="9764395" cy="68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25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1A5B6D2-A4D5-3CDE-5D7E-38ECE846FAEB}"/>
              </a:ext>
            </a:extLst>
          </p:cNvPr>
          <p:cNvSpPr txBox="1"/>
          <p:nvPr/>
        </p:nvSpPr>
        <p:spPr>
          <a:xfrm>
            <a:off x="904568" y="503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=&gt; </a:t>
            </a:r>
            <a:r>
              <a:rPr lang="fr-MA" dirty="0" err="1"/>
              <a:t>Resultat</a:t>
            </a:r>
            <a:endParaRPr lang="fr-M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6E34D9-16F3-1302-59F4-1D92734EC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4567" y="1033395"/>
            <a:ext cx="7513971" cy="51058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1681DDB-D77B-4173-A28D-E70165AE1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207" y="1033395"/>
            <a:ext cx="7628281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51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AE665E-672D-54AD-A7D0-CDE49D04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7" y="773200"/>
            <a:ext cx="11141405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94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EE569E8-2AE1-DA56-1E59-BE331632660B}"/>
              </a:ext>
            </a:extLst>
          </p:cNvPr>
          <p:cNvSpPr txBox="1"/>
          <p:nvPr/>
        </p:nvSpPr>
        <p:spPr>
          <a:xfrm>
            <a:off x="619432" y="297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Script de détection pour une image de test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372089-8DD9-CFCB-165D-5E44E9F88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46" y="792330"/>
            <a:ext cx="4846740" cy="63251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64F83A2-5677-C2CA-0DA1-B26E69862216}"/>
              </a:ext>
            </a:extLst>
          </p:cNvPr>
          <p:cNvSpPr txBox="1"/>
          <p:nvPr/>
        </p:nvSpPr>
        <p:spPr>
          <a:xfrm>
            <a:off x="477146" y="1948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Ajouter une image de test 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E765BC8-7EEE-7E0E-2E08-829E824F7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6" y="2443190"/>
            <a:ext cx="6096000" cy="344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97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525CF1B-656F-6D0C-FB6F-FF8C92603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1257112"/>
            <a:ext cx="11126164" cy="434377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334F28B-8AC4-B226-0A9A-555B61B3EA3F}"/>
              </a:ext>
            </a:extLst>
          </p:cNvPr>
          <p:cNvSpPr txBox="1"/>
          <p:nvPr/>
        </p:nvSpPr>
        <p:spPr>
          <a:xfrm>
            <a:off x="1297858" y="3167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 err="1"/>
              <a:t>Resultat</a:t>
            </a:r>
            <a:r>
              <a:rPr lang="fr-MA" dirty="0"/>
              <a:t> finale de la </a:t>
            </a:r>
            <a:r>
              <a:rPr lang="fr-MA" dirty="0" err="1"/>
              <a:t>detection</a:t>
            </a:r>
            <a:r>
              <a:rPr lang="fr-MA" dirty="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4229529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3FBDCB1-1EE9-1DCD-D66C-0224969B0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45" y="380655"/>
            <a:ext cx="10936555" cy="625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58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DD152FF-0094-BFF6-E9A9-DCF996745FCD}"/>
              </a:ext>
            </a:extLst>
          </p:cNvPr>
          <p:cNvSpPr txBox="1"/>
          <p:nvPr/>
        </p:nvSpPr>
        <p:spPr>
          <a:xfrm>
            <a:off x="304799" y="640904"/>
            <a:ext cx="116020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MA" b="1" dirty="0">
                <a:solidFill>
                  <a:srgbClr val="7030A0"/>
                </a:solidFill>
              </a:rPr>
              <a:t>Conclusion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dirty="0"/>
              <a:t>La librairie </a:t>
            </a:r>
            <a:r>
              <a:rPr lang="fr-MA" dirty="0" err="1">
                <a:solidFill>
                  <a:srgbClr val="FF0000"/>
                </a:solidFill>
                <a:latin typeface="Courier New" panose="02070309020205020404" pitchFamily="49" charset="0"/>
              </a:rPr>
              <a:t>ultralytics</a:t>
            </a:r>
            <a:r>
              <a:rPr lang="fr-MA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fr-MA" dirty="0"/>
              <a:t>permet</a:t>
            </a:r>
            <a:r>
              <a:rPr lang="fr-MA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fr-MA" dirty="0"/>
              <a:t>de détecter et localiser plusieurs objets comme personnes, chaises, ordinateurs, tasses...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dirty="0"/>
              <a:t>Le modèle s'est montré globalement performant, mais a aussi révélé quelques limites : par exemple, une confusion entre un collier et une cravate, avec une confiance faible (0.32). </a:t>
            </a:r>
          </a:p>
          <a:p>
            <a:pPr>
              <a:buNone/>
            </a:pP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8942955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IA-Computer Vision TP2 ^0 Mini projet- détection d'objets</Template>
  <TotalTime>21</TotalTime>
  <Words>712</Words>
  <Application>Microsoft Office PowerPoint</Application>
  <PresentationFormat>Grand écran</PresentationFormat>
  <Paragraphs>109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Thème Office</vt:lpstr>
      <vt:lpstr>IA-Computer Vision</vt:lpstr>
      <vt:lpstr>TP 2 – Réseaux de neurones convolutifs (Partie2)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Mini projet : détection d'objets avec Yolo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yasminadine1@outlook.com</dc:creator>
  <cp:lastModifiedBy>yasminadine1@outlook.com</cp:lastModifiedBy>
  <cp:revision>1</cp:revision>
  <dcterms:created xsi:type="dcterms:W3CDTF">2026-07-12T09:00:32Z</dcterms:created>
  <dcterms:modified xsi:type="dcterms:W3CDTF">2026-07-12T09:22:05Z</dcterms:modified>
</cp:coreProperties>
</file>